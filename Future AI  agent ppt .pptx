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76" r:id="rId7"/>
    <p:sldId id="277" r:id="rId8"/>
    <p:sldId id="261" r:id="rId9"/>
    <p:sldId id="262" r:id="rId10"/>
    <p:sldId id="278" r:id="rId11"/>
    <p:sldId id="279" r:id="rId12"/>
    <p:sldId id="281" r:id="rId13"/>
    <p:sldId id="280" r:id="rId14"/>
    <p:sldId id="282" r:id="rId15"/>
    <p:sldId id="283" r:id="rId16"/>
    <p:sldId id="284" r:id="rId17"/>
    <p:sldId id="270" r:id="rId18"/>
    <p:sldId id="271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F4EC54-E860-4AC4-B5C2-C325F8CF1FBD}" v="12" dt="2026-10-13T09:00:40.41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472" autoAdjust="0"/>
    <p:restoredTop sz="81830" autoAdjust="0"/>
  </p:normalViewPr>
  <p:slideViewPr>
    <p:cSldViewPr snapToGrid="0">
      <p:cViewPr varScale="1">
        <p:scale>
          <a:sx n="67" d="100"/>
          <a:sy n="67" d="100"/>
        </p:scale>
        <p:origin x="4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sh" userId="b44eddc7a3036bab" providerId="LiveId" clId="{2D9DE9AD-B7BD-40FE-91BC-F423F5D4F3CC}"/>
    <pc:docChg chg="addSld modSld">
      <pc:chgData name="rahul sh" userId="b44eddc7a3036bab" providerId="LiveId" clId="{2D9DE9AD-B7BD-40FE-91BC-F423F5D4F3CC}" dt="2026-10-13T09:00:40.410" v="22"/>
      <pc:docMkLst>
        <pc:docMk/>
      </pc:docMkLst>
      <pc:sldChg chg="modSp">
        <pc:chgData name="rahul sh" userId="b44eddc7a3036bab" providerId="LiveId" clId="{2D9DE9AD-B7BD-40FE-91BC-F423F5D4F3CC}" dt="2026-10-13T08:02:59.317" v="0"/>
        <pc:sldMkLst>
          <pc:docMk/>
          <pc:sldMk cId="2756225166" sldId="257"/>
        </pc:sldMkLst>
        <pc:spChg chg="mod">
          <ac:chgData name="rahul sh" userId="b44eddc7a3036bab" providerId="LiveId" clId="{2D9DE9AD-B7BD-40FE-91BC-F423F5D4F3CC}" dt="2026-10-13T08:02:59.317" v="0"/>
          <ac:spMkLst>
            <pc:docMk/>
            <pc:sldMk cId="2756225166" sldId="257"/>
            <ac:spMk id="2" creationId="{EFCE4BFC-9CC5-CC91-A1C6-07F9D6B53A49}"/>
          </ac:spMkLst>
        </pc:spChg>
      </pc:sldChg>
      <pc:sldChg chg="addSp">
        <pc:chgData name="rahul sh" userId="b44eddc7a3036bab" providerId="LiveId" clId="{2D9DE9AD-B7BD-40FE-91BC-F423F5D4F3CC}" dt="2026-10-13T08:07:39.708" v="1"/>
        <pc:sldMkLst>
          <pc:docMk/>
          <pc:sldMk cId="2073969952" sldId="259"/>
        </pc:sldMkLst>
        <pc:picChg chg="add">
          <ac:chgData name="rahul sh" userId="b44eddc7a3036bab" providerId="LiveId" clId="{2D9DE9AD-B7BD-40FE-91BC-F423F5D4F3CC}" dt="2026-10-13T08:07:39.708" v="1"/>
          <ac:picMkLst>
            <pc:docMk/>
            <pc:sldMk cId="2073969952" sldId="259"/>
            <ac:picMk id="7" creationId="{9882EBFC-BC89-B9B5-F34F-CD69E85A952E}"/>
          </ac:picMkLst>
        </pc:picChg>
      </pc:sldChg>
      <pc:sldChg chg="addSp modSp">
        <pc:chgData name="rahul sh" userId="b44eddc7a3036bab" providerId="LiveId" clId="{2D9DE9AD-B7BD-40FE-91BC-F423F5D4F3CC}" dt="2026-10-13T08:10:14.523" v="3" actId="767"/>
        <pc:sldMkLst>
          <pc:docMk/>
          <pc:sldMk cId="1991477543" sldId="260"/>
        </pc:sldMkLst>
        <pc:spChg chg="add mod">
          <ac:chgData name="rahul sh" userId="b44eddc7a3036bab" providerId="LiveId" clId="{2D9DE9AD-B7BD-40FE-91BC-F423F5D4F3CC}" dt="2026-10-13T08:09:54.285" v="2" actId="767"/>
          <ac:spMkLst>
            <pc:docMk/>
            <pc:sldMk cId="1991477543" sldId="260"/>
            <ac:spMk id="8" creationId="{1185EBF2-A261-446C-C48E-DAC5B2DCADB0}"/>
          </ac:spMkLst>
        </pc:spChg>
        <pc:spChg chg="add mod">
          <ac:chgData name="rahul sh" userId="b44eddc7a3036bab" providerId="LiveId" clId="{2D9DE9AD-B7BD-40FE-91BC-F423F5D4F3CC}" dt="2026-10-13T08:10:14.523" v="3" actId="767"/>
          <ac:spMkLst>
            <pc:docMk/>
            <pc:sldMk cId="1991477543" sldId="260"/>
            <ac:spMk id="9" creationId="{DA09C13E-AF0E-B38A-F4C7-CECE1E488851}"/>
          </ac:spMkLst>
        </pc:spChg>
      </pc:sldChg>
      <pc:sldChg chg="addSp delSp">
        <pc:chgData name="rahul sh" userId="b44eddc7a3036bab" providerId="LiveId" clId="{2D9DE9AD-B7BD-40FE-91BC-F423F5D4F3CC}" dt="2026-10-13T08:25:28.194" v="11"/>
        <pc:sldMkLst>
          <pc:docMk/>
          <pc:sldMk cId="2873537657" sldId="261"/>
        </pc:sldMkLst>
        <pc:spChg chg="del">
          <ac:chgData name="rahul sh" userId="b44eddc7a3036bab" providerId="LiveId" clId="{2D9DE9AD-B7BD-40FE-91BC-F423F5D4F3CC}" dt="2026-10-13T08:23:39.496" v="9"/>
          <ac:spMkLst>
            <pc:docMk/>
            <pc:sldMk cId="2873537657" sldId="261"/>
            <ac:spMk id="3" creationId="{2DF67E73-0F93-D314-8C51-CAF900DE48F6}"/>
          </ac:spMkLst>
        </pc:spChg>
        <pc:picChg chg="add">
          <ac:chgData name="rahul sh" userId="b44eddc7a3036bab" providerId="LiveId" clId="{2D9DE9AD-B7BD-40FE-91BC-F423F5D4F3CC}" dt="2026-10-13T08:24:40.749" v="10"/>
          <ac:picMkLst>
            <pc:docMk/>
            <pc:sldMk cId="2873537657" sldId="261"/>
            <ac:picMk id="4" creationId="{F1FF1883-ADAB-001F-7C8E-1ABF21107CFB}"/>
          </ac:picMkLst>
        </pc:picChg>
        <pc:picChg chg="add">
          <ac:chgData name="rahul sh" userId="b44eddc7a3036bab" providerId="LiveId" clId="{2D9DE9AD-B7BD-40FE-91BC-F423F5D4F3CC}" dt="2026-10-13T08:25:28.194" v="11"/>
          <ac:picMkLst>
            <pc:docMk/>
            <pc:sldMk cId="2873537657" sldId="261"/>
            <ac:picMk id="7" creationId="{F31E79BD-9D50-AE08-0A3C-0B231AA3DC2A}"/>
          </ac:picMkLst>
        </pc:picChg>
      </pc:sldChg>
      <pc:sldChg chg="addSp">
        <pc:chgData name="rahul sh" userId="b44eddc7a3036bab" providerId="LiveId" clId="{2D9DE9AD-B7BD-40FE-91BC-F423F5D4F3CC}" dt="2026-10-13T08:28:43.463" v="13"/>
        <pc:sldMkLst>
          <pc:docMk/>
          <pc:sldMk cId="2377379748" sldId="262"/>
        </pc:sldMkLst>
        <pc:picChg chg="add">
          <ac:chgData name="rahul sh" userId="b44eddc7a3036bab" providerId="LiveId" clId="{2D9DE9AD-B7BD-40FE-91BC-F423F5D4F3CC}" dt="2026-10-13T08:27:37.513" v="12"/>
          <ac:picMkLst>
            <pc:docMk/>
            <pc:sldMk cId="2377379748" sldId="262"/>
            <ac:picMk id="5" creationId="{2B285175-7F14-9ADE-CED2-33E0E1D70314}"/>
          </ac:picMkLst>
        </pc:picChg>
        <pc:picChg chg="add">
          <ac:chgData name="rahul sh" userId="b44eddc7a3036bab" providerId="LiveId" clId="{2D9DE9AD-B7BD-40FE-91BC-F423F5D4F3CC}" dt="2026-10-13T08:28:43.463" v="13"/>
          <ac:picMkLst>
            <pc:docMk/>
            <pc:sldMk cId="2377379748" sldId="262"/>
            <ac:picMk id="6" creationId="{212CA339-6E8B-BAF4-C131-944C1FA3615F}"/>
          </ac:picMkLst>
        </pc:picChg>
      </pc:sldChg>
      <pc:sldChg chg="delSp">
        <pc:chgData name="rahul sh" userId="b44eddc7a3036bab" providerId="LiveId" clId="{2D9DE9AD-B7BD-40FE-91BC-F423F5D4F3CC}" dt="2026-10-13T08:28:59.953" v="14"/>
        <pc:sldMkLst>
          <pc:docMk/>
          <pc:sldMk cId="844772154" sldId="263"/>
        </pc:sldMkLst>
        <pc:spChg chg="del">
          <ac:chgData name="rahul sh" userId="b44eddc7a3036bab" providerId="LiveId" clId="{2D9DE9AD-B7BD-40FE-91BC-F423F5D4F3CC}" dt="2026-10-13T08:28:59.953" v="14"/>
          <ac:spMkLst>
            <pc:docMk/>
            <pc:sldMk cId="844772154" sldId="263"/>
            <ac:spMk id="3" creationId="{E41CA65B-84BF-CA41-254B-F18390450C80}"/>
          </ac:spMkLst>
        </pc:spChg>
      </pc:sldChg>
      <pc:sldChg chg="delSp">
        <pc:chgData name="rahul sh" userId="b44eddc7a3036bab" providerId="LiveId" clId="{2D9DE9AD-B7BD-40FE-91BC-F423F5D4F3CC}" dt="2026-10-13T08:30:51.859" v="15"/>
        <pc:sldMkLst>
          <pc:docMk/>
          <pc:sldMk cId="2805123293" sldId="270"/>
        </pc:sldMkLst>
        <pc:spChg chg="del">
          <ac:chgData name="rahul sh" userId="b44eddc7a3036bab" providerId="LiveId" clId="{2D9DE9AD-B7BD-40FE-91BC-F423F5D4F3CC}" dt="2026-10-13T08:30:51.859" v="15"/>
          <ac:spMkLst>
            <pc:docMk/>
            <pc:sldMk cId="2805123293" sldId="270"/>
            <ac:spMk id="4" creationId="{C4E7D6F4-A083-8BBE-7E13-073E50E6FB2F}"/>
          </ac:spMkLst>
        </pc:spChg>
      </pc:sldChg>
      <pc:sldChg chg="modSp">
        <pc:chgData name="rahul sh" userId="b44eddc7a3036bab" providerId="LiveId" clId="{2D9DE9AD-B7BD-40FE-91BC-F423F5D4F3CC}" dt="2026-10-13T08:52:22.099" v="19"/>
        <pc:sldMkLst>
          <pc:docMk/>
          <pc:sldMk cId="1380967920" sldId="271"/>
        </pc:sldMkLst>
        <pc:spChg chg="mod">
          <ac:chgData name="rahul sh" userId="b44eddc7a3036bab" providerId="LiveId" clId="{2D9DE9AD-B7BD-40FE-91BC-F423F5D4F3CC}" dt="2026-10-13T08:52:22.099" v="19"/>
          <ac:spMkLst>
            <pc:docMk/>
            <pc:sldMk cId="1380967920" sldId="271"/>
            <ac:spMk id="3" creationId="{1D83F53C-2AF8-FD8B-45EE-2FE8529D6642}"/>
          </ac:spMkLst>
        </pc:spChg>
      </pc:sldChg>
      <pc:sldChg chg="modSp">
        <pc:chgData name="rahul sh" userId="b44eddc7a3036bab" providerId="LiveId" clId="{2D9DE9AD-B7BD-40FE-91BC-F423F5D4F3CC}" dt="2026-10-13T08:16:25.803" v="6"/>
        <pc:sldMkLst>
          <pc:docMk/>
          <pc:sldMk cId="1750304021" sldId="276"/>
        </pc:sldMkLst>
        <pc:spChg chg="mod">
          <ac:chgData name="rahul sh" userId="b44eddc7a3036bab" providerId="LiveId" clId="{2D9DE9AD-B7BD-40FE-91BC-F423F5D4F3CC}" dt="2026-10-13T08:16:25.803" v="6"/>
          <ac:spMkLst>
            <pc:docMk/>
            <pc:sldMk cId="1750304021" sldId="276"/>
            <ac:spMk id="3" creationId="{41C0E496-1CFF-44FB-D966-2ECFDC050A2E}"/>
          </ac:spMkLst>
        </pc:spChg>
      </pc:sldChg>
      <pc:sldChg chg="addSp modSp">
        <pc:chgData name="rahul sh" userId="b44eddc7a3036bab" providerId="LiveId" clId="{2D9DE9AD-B7BD-40FE-91BC-F423F5D4F3CC}" dt="2026-10-13T08:22:23.621" v="8" actId="767"/>
        <pc:sldMkLst>
          <pc:docMk/>
          <pc:sldMk cId="1329492394" sldId="277"/>
        </pc:sldMkLst>
        <pc:spChg chg="add mod">
          <ac:chgData name="rahul sh" userId="b44eddc7a3036bab" providerId="LiveId" clId="{2D9DE9AD-B7BD-40FE-91BC-F423F5D4F3CC}" dt="2026-10-13T08:21:28.897" v="7" actId="767"/>
          <ac:spMkLst>
            <pc:docMk/>
            <pc:sldMk cId="1329492394" sldId="277"/>
            <ac:spMk id="6" creationId="{0AF2C382-3A7A-5E64-4379-60A6433F6C96}"/>
          </ac:spMkLst>
        </pc:spChg>
        <pc:spChg chg="add mod">
          <ac:chgData name="rahul sh" userId="b44eddc7a3036bab" providerId="LiveId" clId="{2D9DE9AD-B7BD-40FE-91BC-F423F5D4F3CC}" dt="2026-10-13T08:22:23.621" v="8" actId="767"/>
          <ac:spMkLst>
            <pc:docMk/>
            <pc:sldMk cId="1329492394" sldId="277"/>
            <ac:spMk id="9" creationId="{5299DD37-916F-59F9-B62E-6975EA193794}"/>
          </ac:spMkLst>
        </pc:spChg>
      </pc:sldChg>
      <pc:sldChg chg="addSp">
        <pc:chgData name="rahul sh" userId="b44eddc7a3036bab" providerId="LiveId" clId="{2D9DE9AD-B7BD-40FE-91BC-F423F5D4F3CC}" dt="2026-10-13T08:32:38.551" v="17"/>
        <pc:sldMkLst>
          <pc:docMk/>
          <pc:sldMk cId="3720285945" sldId="280"/>
        </pc:sldMkLst>
        <pc:picChg chg="add">
          <ac:chgData name="rahul sh" userId="b44eddc7a3036bab" providerId="LiveId" clId="{2D9DE9AD-B7BD-40FE-91BC-F423F5D4F3CC}" dt="2026-10-13T08:32:10.065" v="16"/>
          <ac:picMkLst>
            <pc:docMk/>
            <pc:sldMk cId="3720285945" sldId="280"/>
            <ac:picMk id="2" creationId="{6E0CDA1E-D397-33A1-9C52-B6433CB44930}"/>
          </ac:picMkLst>
        </pc:picChg>
        <pc:picChg chg="add">
          <ac:chgData name="rahul sh" userId="b44eddc7a3036bab" providerId="LiveId" clId="{2D9DE9AD-B7BD-40FE-91BC-F423F5D4F3CC}" dt="2026-10-13T08:32:38.551" v="17"/>
          <ac:picMkLst>
            <pc:docMk/>
            <pc:sldMk cId="3720285945" sldId="280"/>
            <ac:picMk id="3" creationId="{CDE833C0-B31F-8CBB-FFFD-0F440E720163}"/>
          </ac:picMkLst>
        </pc:picChg>
      </pc:sldChg>
      <pc:sldChg chg="addSp delSp modSp">
        <pc:chgData name="rahul sh" userId="b44eddc7a3036bab" providerId="LiveId" clId="{2D9DE9AD-B7BD-40FE-91BC-F423F5D4F3CC}" dt="2026-10-13T08:57:42.878" v="21"/>
        <pc:sldMkLst>
          <pc:docMk/>
          <pc:sldMk cId="3109798919" sldId="285"/>
        </pc:sldMkLst>
        <pc:spChg chg="add del mod">
          <ac:chgData name="rahul sh" userId="b44eddc7a3036bab" providerId="LiveId" clId="{2D9DE9AD-B7BD-40FE-91BC-F423F5D4F3CC}" dt="2026-10-13T08:57:42.878" v="21"/>
          <ac:spMkLst>
            <pc:docMk/>
            <pc:sldMk cId="3109798919" sldId="285"/>
            <ac:spMk id="6" creationId="{4D4E5A46-20B7-778F-8DD9-FB1C7F67C81F}"/>
          </ac:spMkLst>
        </pc:spChg>
      </pc:sldChg>
      <pc:sldChg chg="add">
        <pc:chgData name="rahul sh" userId="b44eddc7a3036bab" providerId="LiveId" clId="{2D9DE9AD-B7BD-40FE-91BC-F423F5D4F3CC}" dt="2026-10-13T09:00:40.410" v="22"/>
        <pc:sldMkLst>
          <pc:docMk/>
          <pc:sldMk cId="2866081263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EA1B8-39FB-FA09-655C-10FC68A448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2FB306-C6B9-8821-78B0-BD3F42B479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6EB3A-A286-99B0-B6AD-CEE80E3994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908D0-04F3-DE55-6342-87C337FF6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0FF26-0BAF-75A8-5CD7-021FF2213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42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98D41-318E-0FA2-B9E7-A21448FAB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28CB-CFCF-6441-D1D2-DA9F4E9795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17938-14E4-0734-47F5-1A20CAED7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974F3-CB10-56D3-9441-075A1DBFD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8535F-CD87-AA66-D4CF-05E52E131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77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C99014-1252-9E99-2BCB-52F5EC015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F3A59-B5A1-562D-B3EE-6A14C9F140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A0E57E-DF09-4D16-CC34-022E30D99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CD957-F195-5D69-1E28-799583E70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9C3E6-77E9-708A-2BFA-B3A119B9F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2330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D2E81-3FF8-0388-A3C2-BAE14A70B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F4EA9-FC1F-5A62-B198-F869A89B2E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920A77-3206-34D2-8B0A-A7BB64167E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A7D2D-6D11-FBD4-6E08-AF67B0301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4EA3C5-239A-2244-8C45-D7E09D28D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46DCCC-E416-1BA5-2B05-E817C16CD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045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7B641-D2AE-F26B-94B1-95E8FD283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BA1ED1-608A-ED2A-D3DB-95FF794CCF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F2FF08-CCFF-8622-555C-4ADA8D530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B35400C-1D96-B418-97D1-C5417C33C6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9B531F-9516-2A0B-EAD8-300A044328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C1A13-A98A-1EDF-D4D5-9E116647AB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EAF5D-C0C4-B02D-78F7-B885A1F52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7E8BC5-4F09-C42D-779B-C35BAC6AF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549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E48A1-521E-15C4-AD38-DA63664F6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F841EB-2215-B761-D853-4D6F902F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F7F237-747B-327F-9782-5E8C0B21E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381CDD-C60B-F074-0F08-17E55B6737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413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AAB7C-36AD-1576-433D-3717FB21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985544-1D51-1C29-F488-D3FDDF778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D4B81-D5E6-D398-D4D1-4AB83157A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15139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3B65F-32E3-1DD5-5FD0-9B6089671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6301F0-B20E-7B31-0168-FBE6F39D1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5F3538-354F-7F66-2CBB-C7EF3B4BB0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FE9EBE-4952-5E8D-1060-A9D165DDD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A0FEF9-2BD5-1887-B0F3-11C1CDA1EA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B2E4A6-8C37-428E-0748-A63FE8907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4532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539DD-F82A-C4DD-FDAB-8700CA965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C0A9B3-4AB2-D37C-298A-FAED026EDE7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4316DA-51B5-CEE0-8078-ACED1D358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831730-6669-6E50-C10D-6E110EB5E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9A321-A644-1666-D383-8C30EA2AF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187BE-99A6-C5F7-0DD2-822334743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872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4AA03-CEE9-F816-A30B-CE6C7DF0C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F00902-6FDF-D555-91CD-F3E2ED63DA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E16F3-5126-6164-97E0-3342A002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26508B-55E9-D335-06AC-86A45DFF2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FC65F-F320-A1BF-DBEB-C100FFF89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29831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B00DDD-DB91-2949-8962-2AFF2B9CE4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28323FE-BCB4-C00F-A66E-47E6EFD868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8EB4E1-2D4C-7178-9958-17ED75DAA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745C3-6B8B-8E9D-EBB4-2616F332B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EE9F1-2AD1-C880-278C-F90912F73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200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7C192B-D0D6-7D43-1B0A-E5A4A2B34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05EE9-CF52-36ED-E1EC-C2CE05B68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3C6531-246E-08E7-1A43-092060BBEC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5C8EA2-8C54-4881-AA8D-08AD8141E46B}" type="datetimeFigureOut">
              <a:rPr lang="en-IN" smtClean="0"/>
              <a:t>13-10-2026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148B51-9C4A-AE3E-ABC5-58F1FAB3F3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AD67C6-3A79-4C81-3803-BFE0E9D8A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FF728-49FB-48B7-90F0-62CE2FB4C0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187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19551-9764-44DB-08CE-BEDD1E26EE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9097" y="-678426"/>
            <a:ext cx="10028902" cy="6925352"/>
          </a:xfrm>
        </p:spPr>
        <p:txBody>
          <a:bodyPr>
            <a:normAutofit/>
          </a:bodyPr>
          <a:lstStyle/>
          <a:p>
            <a:br>
              <a:rPr lang="pt-BR" dirty="0"/>
            </a:br>
            <a:r>
              <a:rPr lang="pt-BR" dirty="0"/>
              <a:t>AI/ML &amp; Future AI Agent                 Internship</a:t>
            </a:r>
            <a:br>
              <a:rPr lang="en-US" dirty="0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F47606-DCC4-0120-1282-A1FE6B4E72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>
            <a:off x="10667999" y="5212080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39FC03-2811-0848-4D7D-CFB3B98076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1290" y="275303"/>
            <a:ext cx="4100052" cy="2851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265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5F92108-551A-41AE-49A7-BB0F9352AD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7302710"/>
              </p:ext>
            </p:extLst>
          </p:nvPr>
        </p:nvGraphicFramePr>
        <p:xfrm>
          <a:off x="786582" y="1691112"/>
          <a:ext cx="7973960" cy="50780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7650">
                  <a:extLst>
                    <a:ext uri="{9D8B030D-6E8A-4147-A177-3AD203B41FA5}">
                      <a16:colId xmlns:a16="http://schemas.microsoft.com/office/drawing/2014/main" val="3393243812"/>
                    </a:ext>
                  </a:extLst>
                </a:gridCol>
                <a:gridCol w="3353155">
                  <a:extLst>
                    <a:ext uri="{9D8B030D-6E8A-4147-A177-3AD203B41FA5}">
                      <a16:colId xmlns:a16="http://schemas.microsoft.com/office/drawing/2014/main" val="980958795"/>
                    </a:ext>
                  </a:extLst>
                </a:gridCol>
                <a:gridCol w="3353155">
                  <a:extLst>
                    <a:ext uri="{9D8B030D-6E8A-4147-A177-3AD203B41FA5}">
                      <a16:colId xmlns:a16="http://schemas.microsoft.com/office/drawing/2014/main" val="914915221"/>
                    </a:ext>
                  </a:extLst>
                </a:gridCol>
              </a:tblGrid>
              <a:tr h="668168">
                <a:tc>
                  <a:txBody>
                    <a:bodyPr/>
                    <a:lstStyle/>
                    <a:p>
                      <a:r>
                        <a:rPr lang="en-US" dirty="0"/>
                        <a:t>Section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Topic  Description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Page 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0139711"/>
                  </a:ext>
                </a:extLst>
              </a:tr>
              <a:tr h="668168">
                <a:tc>
                  <a:txBody>
                    <a:bodyPr/>
                    <a:lstStyle/>
                    <a:p>
                      <a:r>
                        <a:rPr lang="en-US" dirty="0"/>
                        <a:t>1.0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Learning objectives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7541916"/>
                  </a:ext>
                </a:extLst>
              </a:tr>
              <a:tr h="668168">
                <a:tc>
                  <a:txBody>
                    <a:bodyPr/>
                    <a:lstStyle/>
                    <a:p>
                      <a:r>
                        <a:rPr lang="en-US" dirty="0"/>
                        <a:t>2.0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fundamentals for AI , variables and data types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1057357"/>
                  </a:ext>
                </a:extLst>
              </a:tr>
              <a:tr h="1480247">
                <a:tc>
                  <a:txBody>
                    <a:bodyPr/>
                    <a:lstStyle/>
                    <a:p>
                      <a:r>
                        <a:rPr lang="en-US" dirty="0"/>
                        <a:t>3.0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dirty="0"/>
                    </a:p>
                    <a:p>
                      <a:r>
                        <a:rPr lang="en-US" dirty="0"/>
                        <a:t>AI/ML  VS Future AI Agent</a:t>
                      </a:r>
                    </a:p>
                    <a:p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172637"/>
                  </a:ext>
                </a:extLst>
              </a:tr>
              <a:tr h="925154">
                <a:tc>
                  <a:txBody>
                    <a:bodyPr/>
                    <a:lstStyle/>
                    <a:p>
                      <a:r>
                        <a:rPr lang="en-US" dirty="0"/>
                        <a:t>4.0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  <a:p>
                      <a:r>
                        <a:rPr lang="en-IN" dirty="0"/>
                        <a:t>Linux server deployment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55434835"/>
                  </a:ext>
                </a:extLst>
              </a:tr>
              <a:tr h="668168">
                <a:tc>
                  <a:txBody>
                    <a:bodyPr/>
                    <a:lstStyle/>
                    <a:p>
                      <a:r>
                        <a:rPr lang="en-US" dirty="0"/>
                        <a:t>5.0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Interview and practical questions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28925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4649FF-A78B-C489-514B-DB86B9386D7C}"/>
              </a:ext>
            </a:extLst>
          </p:cNvPr>
          <p:cNvSpPr txBox="1"/>
          <p:nvPr/>
        </p:nvSpPr>
        <p:spPr>
          <a:xfrm>
            <a:off x="786582" y="983226"/>
            <a:ext cx="56006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Table Of Contents 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011204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FCE4BFC-9CC5-CC91-A1C6-07F9D6B53A49}"/>
              </a:ext>
            </a:extLst>
          </p:cNvPr>
          <p:cNvSpPr txBox="1"/>
          <p:nvPr/>
        </p:nvSpPr>
        <p:spPr>
          <a:xfrm>
            <a:off x="117987" y="983227"/>
            <a:ext cx="11936361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The main learning objectives of this internship and project are:</a:t>
            </a:r>
          </a:p>
          <a:p>
            <a:endParaRPr lang="en-IN" sz="2800" dirty="0"/>
          </a:p>
          <a:p>
            <a:pPr lvl="0"/>
            <a:r>
              <a:rPr lang="en-IN" sz="2000" b="1" dirty="0"/>
              <a:t>Understand Artificial Intelligence and Machine Learning:</a:t>
            </a:r>
            <a:r>
              <a:rPr lang="en-IN" sz="2000" dirty="0"/>
              <a:t> To develop a fundamental understanding of AI, ML, Generative AI, and AI Agent technologies and their real-world applications.</a:t>
            </a:r>
          </a:p>
          <a:p>
            <a:pPr lvl="0"/>
            <a:r>
              <a:rPr lang="en-IN" sz="2000" b="1" dirty="0"/>
              <a:t>Learn Prompt Engineering:</a:t>
            </a:r>
            <a:r>
              <a:rPr lang="en-IN" sz="2000" dirty="0"/>
              <a:t> To understand how to design effective prompts and interact with AI models to generate accurate, relevant, and useful responses.</a:t>
            </a:r>
          </a:p>
          <a:p>
            <a:pPr lvl="0"/>
            <a:r>
              <a:rPr lang="en-IN" sz="2000" b="1" dirty="0"/>
              <a:t>Develop AI Agent Skills:</a:t>
            </a:r>
            <a:r>
              <a:rPr lang="en-IN" sz="2000" dirty="0"/>
              <a:t> To learn how AI agents work, including task planning, decision-making, tool usage, and automated problem-solving.</a:t>
            </a:r>
          </a:p>
          <a:p>
            <a:pPr lvl="0"/>
            <a:r>
              <a:rPr lang="en-IN" sz="2000" b="1" dirty="0"/>
              <a:t>Explore API Integration:</a:t>
            </a:r>
            <a:r>
              <a:rPr lang="en-IN" sz="2000" dirty="0"/>
              <a:t> To understand how APIs connect AI models with web applications and external services to enable intelligent functionality.</a:t>
            </a:r>
          </a:p>
          <a:p>
            <a:pPr lvl="0"/>
            <a:r>
              <a:rPr lang="en-IN" sz="2000" b="1" dirty="0"/>
              <a:t>Build Practical AI Applications:</a:t>
            </a:r>
            <a:r>
              <a:rPr lang="en-IN" sz="2000" dirty="0"/>
              <a:t> To gain hands-on experience in developing AI-powered applications using appropriate programming languages, frameworks, and development tools.</a:t>
            </a:r>
          </a:p>
          <a:p>
            <a:pPr lvl="0"/>
            <a:r>
              <a:rPr lang="en-IN" sz="2000" b="1" dirty="0"/>
              <a:t>Understand Resume Analysis:</a:t>
            </a:r>
            <a:r>
              <a:rPr lang="en-IN" sz="2000" dirty="0"/>
              <a:t> To explore how AI can </a:t>
            </a:r>
            <a:r>
              <a:rPr lang="en-IN" sz="2000" dirty="0" err="1"/>
              <a:t>analyze</a:t>
            </a:r>
            <a:r>
              <a:rPr lang="en-IN" sz="2000" dirty="0"/>
              <a:t> resumes, identify skills, extract relevant information, and evaluate candidate profiles.</a:t>
            </a:r>
          </a:p>
          <a:p>
            <a:pPr lvl="0"/>
            <a:r>
              <a:rPr lang="en-IN" sz="2000" b="1" dirty="0"/>
              <a:t>Implement Intelligent Job Matching:</a:t>
            </a:r>
            <a:r>
              <a:rPr lang="en-IN" sz="2000" dirty="0"/>
              <a:t> To learn how to match candidates' skills, qualifications, and interests with suitable job opportunities using AI-based techniques.</a:t>
            </a:r>
          </a:p>
          <a:p>
            <a:pPr lvl="0"/>
            <a:r>
              <a:rPr lang="en-IN" sz="2000" b="1" dirty="0"/>
              <a:t>Provide Personalized Career Guidance:</a:t>
            </a:r>
            <a:r>
              <a:rPr lang="en-IN" sz="2000" dirty="0"/>
              <a:t> To understand how an AI agent can recommend relevant skills, learning resources, and career paths based on a user's profile</a:t>
            </a:r>
            <a:r>
              <a:rPr lang="en-IN" dirty="0"/>
              <a:t>.</a:t>
            </a:r>
          </a:p>
          <a:p>
            <a:pPr lvl="0"/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3B1802-0B12-307D-ACD3-0E36E729355A}"/>
              </a:ext>
            </a:extLst>
          </p:cNvPr>
          <p:cNvSpPr txBox="1"/>
          <p:nvPr/>
        </p:nvSpPr>
        <p:spPr>
          <a:xfrm>
            <a:off x="216310" y="285135"/>
            <a:ext cx="76888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u="sng" dirty="0">
                <a:solidFill>
                  <a:srgbClr val="0070C0"/>
                </a:solidFill>
              </a:rPr>
              <a:t>Learning Objective </a:t>
            </a:r>
            <a:endParaRPr lang="en-IN" sz="4400" b="1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225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A397E3E-B90C-4D82-BAAA-36F7AC6A45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F0C2E5D-B08F-4A99-9D15-59D33148F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47167"/>
            <a:ext cx="1861854" cy="717514"/>
            <a:chOff x="0" y="238499"/>
            <a:chExt cx="1861854" cy="717514"/>
          </a:xfrm>
          <a:solidFill>
            <a:schemeClr val="bg1"/>
          </a:solidFill>
        </p:grpSpPr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07B8F35D-FB89-4C40-8A99-E46DDA0213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E16C8D8F-10E9-4498-ABDB-0F923F8B683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1E5A83E3-8A11-4492-BB6E-F5F2240316F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5FC669C-CD13-4F4A-AFFF-4029D34F2D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238499"/>
              <a:ext cx="1861854" cy="717514"/>
              <a:chOff x="0" y="604259"/>
              <a:chExt cx="1861854" cy="717514"/>
            </a:xfrm>
            <a:grpFill/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6617B5AA-8A0D-41D3-B2EF-8BC53E3B7DF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604259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7963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283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7963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283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572EB308-9A4E-4332-A908-22F2978D754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1043994"/>
                <a:ext cx="1861854" cy="277779"/>
              </a:xfrm>
              <a:custGeom>
                <a:avLst/>
                <a:gdLst>
                  <a:gd name="connsiteX0" fmla="*/ 180458 w 1861854"/>
                  <a:gd name="connsiteY0" fmla="*/ 0 h 277779"/>
                  <a:gd name="connsiteX1" fmla="*/ 419222 w 1861854"/>
                  <a:gd name="connsiteY1" fmla="*/ 238761 h 277779"/>
                  <a:gd name="connsiteX2" fmla="*/ 657984 w 1861854"/>
                  <a:gd name="connsiteY2" fmla="*/ 0 h 277779"/>
                  <a:gd name="connsiteX3" fmla="*/ 896745 w 1861854"/>
                  <a:gd name="connsiteY3" fmla="*/ 238761 h 277779"/>
                  <a:gd name="connsiteX4" fmla="*/ 1135754 w 1861854"/>
                  <a:gd name="connsiteY4" fmla="*/ 0 h 277779"/>
                  <a:gd name="connsiteX5" fmla="*/ 1374516 w 1861854"/>
                  <a:gd name="connsiteY5" fmla="*/ 238761 h 277779"/>
                  <a:gd name="connsiteX6" fmla="*/ 1613277 w 1861854"/>
                  <a:gd name="connsiteY6" fmla="*/ 0 h 277779"/>
                  <a:gd name="connsiteX7" fmla="*/ 1861854 w 1861854"/>
                  <a:gd name="connsiteY7" fmla="*/ 248577 h 277779"/>
                  <a:gd name="connsiteX8" fmla="*/ 1842470 w 1861854"/>
                  <a:gd name="connsiteY8" fmla="*/ 268208 h 277779"/>
                  <a:gd name="connsiteX9" fmla="*/ 1613277 w 1861854"/>
                  <a:gd name="connsiteY9" fmla="*/ 39017 h 277779"/>
                  <a:gd name="connsiteX10" fmla="*/ 1374516 w 1861854"/>
                  <a:gd name="connsiteY10" fmla="*/ 277779 h 277779"/>
                  <a:gd name="connsiteX11" fmla="*/ 1135754 w 1861854"/>
                  <a:gd name="connsiteY11" fmla="*/ 39017 h 277779"/>
                  <a:gd name="connsiteX12" fmla="*/ 896745 w 1861854"/>
                  <a:gd name="connsiteY12" fmla="*/ 277779 h 277779"/>
                  <a:gd name="connsiteX13" fmla="*/ 657984 w 1861854"/>
                  <a:gd name="connsiteY13" fmla="*/ 39017 h 277779"/>
                  <a:gd name="connsiteX14" fmla="*/ 419222 w 1861854"/>
                  <a:gd name="connsiteY14" fmla="*/ 277779 h 277779"/>
                  <a:gd name="connsiteX15" fmla="*/ 180458 w 1861854"/>
                  <a:gd name="connsiteY15" fmla="*/ 39017 h 277779"/>
                  <a:gd name="connsiteX16" fmla="*/ 0 w 1861854"/>
                  <a:gd name="connsiteY16" fmla="*/ 219475 h 277779"/>
                  <a:gd name="connsiteX17" fmla="*/ 0 w 1861854"/>
                  <a:gd name="connsiteY17" fmla="*/ 180458 h 2777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861854" h="277779">
                    <a:moveTo>
                      <a:pt x="180458" y="0"/>
                    </a:moveTo>
                    <a:lnTo>
                      <a:pt x="419222" y="238761"/>
                    </a:lnTo>
                    <a:lnTo>
                      <a:pt x="657984" y="0"/>
                    </a:lnTo>
                    <a:lnTo>
                      <a:pt x="896745" y="238761"/>
                    </a:lnTo>
                    <a:lnTo>
                      <a:pt x="1135754" y="0"/>
                    </a:lnTo>
                    <a:lnTo>
                      <a:pt x="1374516" y="238761"/>
                    </a:lnTo>
                    <a:lnTo>
                      <a:pt x="1613277" y="0"/>
                    </a:lnTo>
                    <a:lnTo>
                      <a:pt x="1861854" y="248577"/>
                    </a:lnTo>
                    <a:lnTo>
                      <a:pt x="1842470" y="268208"/>
                    </a:lnTo>
                    <a:lnTo>
                      <a:pt x="1613277" y="39017"/>
                    </a:lnTo>
                    <a:lnTo>
                      <a:pt x="1374516" y="277779"/>
                    </a:lnTo>
                    <a:lnTo>
                      <a:pt x="1135754" y="39017"/>
                    </a:lnTo>
                    <a:lnTo>
                      <a:pt x="896745" y="277779"/>
                    </a:lnTo>
                    <a:lnTo>
                      <a:pt x="657984" y="39017"/>
                    </a:lnTo>
                    <a:lnTo>
                      <a:pt x="419222" y="277779"/>
                    </a:lnTo>
                    <a:lnTo>
                      <a:pt x="180458" y="39017"/>
                    </a:lnTo>
                    <a:lnTo>
                      <a:pt x="0" y="219475"/>
                    </a:lnTo>
                    <a:lnTo>
                      <a:pt x="0" y="180458"/>
                    </a:lnTo>
                    <a:close/>
                  </a:path>
                </a:pathLst>
              </a:custGeom>
              <a:grpFill/>
              <a:ln w="9525" cap="flat">
                <a:noFill/>
                <a:prstDash val="solid"/>
                <a:miter/>
              </a:ln>
            </p:spPr>
            <p:txBody>
              <a:bodyPr wrap="square" rtlCol="0" anchor="ctr">
                <a:no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499343D-E927-41D0-B997-E44A300C68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79725" y="1119591"/>
            <a:ext cx="4965868" cy="4598497"/>
            <a:chOff x="579725" y="1119591"/>
            <a:chExt cx="4965868" cy="4598497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2C1D3151-5F97-4860-B56C-C98BD62CC2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AD33695-C117-4AEE-9AF5-65F13C6CC3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725" y="1119591"/>
              <a:ext cx="4965868" cy="4598497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90A7F83A-9728-4030-8E45-9ECF1ABCCC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039" y="1073782"/>
            <a:ext cx="4860256" cy="452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3DC929-636F-719B-183D-A6CC9F0B99D7}"/>
              </a:ext>
            </a:extLst>
          </p:cNvPr>
          <p:cNvSpPr txBox="1"/>
          <p:nvPr/>
        </p:nvSpPr>
        <p:spPr>
          <a:xfrm>
            <a:off x="838200" y="1254952"/>
            <a:ext cx="4324642" cy="29396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u="sng">
                <a:solidFill>
                  <a:schemeClr val="bg1"/>
                </a:solidFill>
                <a:latin typeface="+mj-lt"/>
                <a:ea typeface="+mj-ea"/>
                <a:cs typeface="+mj-cs"/>
              </a:rPr>
              <a:t>Python fundamentals for AI </a:t>
            </a:r>
          </a:p>
        </p:txBody>
      </p:sp>
      <p:pic>
        <p:nvPicPr>
          <p:cNvPr id="7" name="Picture 6" descr="Image result for python fundaments for AI  image">
            <a:extLst>
              <a:ext uri="{FF2B5EF4-FFF2-40B4-BE49-F238E27FC236}">
                <a16:creationId xmlns:a16="http://schemas.microsoft.com/office/drawing/2014/main" id="{9882EBFC-BC89-B9B5-F34F-CD69E85A95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68" r="-3" b="-3"/>
          <a:stretch>
            <a:fillRect/>
          </a:stretch>
        </p:blipFill>
        <p:spPr>
          <a:xfrm>
            <a:off x="6094114" y="1321031"/>
            <a:ext cx="5428611" cy="4210940"/>
          </a:xfrm>
          <a:prstGeom prst="rect">
            <a:avLst/>
          </a:prstGeom>
          <a:ln w="28575">
            <a:noFill/>
          </a:ln>
        </p:spPr>
      </p:pic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A2B5CBEA-F125-49B6-8335-227C325B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FEA9761C-7BB2-45E5-A5DB-A0B353624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10790119" y="0"/>
            <a:ext cx="1401881" cy="1345036"/>
          </a:xfrm>
          <a:custGeom>
            <a:avLst/>
            <a:gdLst>
              <a:gd name="connsiteX0" fmla="*/ 2473947 w 3432581"/>
              <a:gd name="connsiteY0" fmla="*/ 0 h 3293393"/>
              <a:gd name="connsiteX1" fmla="*/ 3209623 w 3432581"/>
              <a:gd name="connsiteY1" fmla="*/ 111224 h 3293393"/>
              <a:gd name="connsiteX2" fmla="*/ 3432581 w 3432581"/>
              <a:gd name="connsiteY2" fmla="*/ 192828 h 3293393"/>
              <a:gd name="connsiteX3" fmla="*/ 3432581 w 3432581"/>
              <a:gd name="connsiteY3" fmla="*/ 3293393 h 3293393"/>
              <a:gd name="connsiteX4" fmla="*/ 141884 w 3432581"/>
              <a:gd name="connsiteY4" fmla="*/ 3293393 h 3293393"/>
              <a:gd name="connsiteX5" fmla="*/ 111224 w 3432581"/>
              <a:gd name="connsiteY5" fmla="*/ 3209623 h 3293393"/>
              <a:gd name="connsiteX6" fmla="*/ 0 w 3432581"/>
              <a:gd name="connsiteY6" fmla="*/ 2473947 h 3293393"/>
              <a:gd name="connsiteX7" fmla="*/ 2473947 w 3432581"/>
              <a:gd name="connsiteY7" fmla="*/ 0 h 32933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32581" h="3293393">
                <a:moveTo>
                  <a:pt x="2473947" y="0"/>
                </a:moveTo>
                <a:cubicBezTo>
                  <a:pt x="2730133" y="0"/>
                  <a:pt x="2977223" y="38940"/>
                  <a:pt x="3209623" y="111224"/>
                </a:cubicBezTo>
                <a:lnTo>
                  <a:pt x="3432581" y="192828"/>
                </a:lnTo>
                <a:lnTo>
                  <a:pt x="3432581" y="3293393"/>
                </a:lnTo>
                <a:lnTo>
                  <a:pt x="141884" y="3293393"/>
                </a:lnTo>
                <a:lnTo>
                  <a:pt x="111224" y="3209623"/>
                </a:lnTo>
                <a:cubicBezTo>
                  <a:pt x="38940" y="2977224"/>
                  <a:pt x="0" y="2730133"/>
                  <a:pt x="0" y="2473947"/>
                </a:cubicBezTo>
                <a:cubicBezTo>
                  <a:pt x="0" y="1107624"/>
                  <a:pt x="1107624" y="0"/>
                  <a:pt x="2473947" y="0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8E44D629-6B8E-4D88-A77E-149C0ED03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7634" y="4727300"/>
            <a:ext cx="319941" cy="319941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40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rgbClr val="FFFFFF"/>
          </a:solidFill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7" name="Graphic 185">
            <a:extLst>
              <a:ext uri="{FF2B5EF4-FFF2-40B4-BE49-F238E27FC236}">
                <a16:creationId xmlns:a16="http://schemas.microsoft.com/office/drawing/2014/main" id="{8B6BCBAB-41A5-4D6D-8C9B-55E3AA6FC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503907" y="5801515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55217F1-B506-4443-A399-CFFA441CD6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B8C0F31-7A0C-4630-A379-0B4719A1F7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2D43873-56D9-4AC1-AB59-A1E78D679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B2197D5-22E1-47CC-83CF-9E64CCD57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05DC5D97-506B-47F6-B9A7-D8FA26C88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73969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64F61C80-6E08-972A-EDC8-1E871138E082}"/>
              </a:ext>
            </a:extLst>
          </p:cNvPr>
          <p:cNvSpPr txBox="1"/>
          <p:nvPr/>
        </p:nvSpPr>
        <p:spPr>
          <a:xfrm>
            <a:off x="88490" y="127820"/>
            <a:ext cx="905551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000" b="1" u="sng" dirty="0"/>
              <a:t>Variables in Python</a:t>
            </a:r>
          </a:p>
          <a:p>
            <a:pPr>
              <a:buNone/>
            </a:pPr>
            <a:endParaRPr lang="en-IN" sz="4000" b="1" u="sng" dirty="0"/>
          </a:p>
          <a:p>
            <a:pPr>
              <a:buNone/>
            </a:pPr>
            <a:r>
              <a:rPr lang="en-IN" sz="2000" dirty="0"/>
              <a:t> A variable is a name used to store data or values in a program. In Python, we do not need to declare the variable's data type explicitly.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85EBF2-A261-446C-C48E-DAC5B2DCADB0}"/>
              </a:ext>
            </a:extLst>
          </p:cNvPr>
          <p:cNvSpPr txBox="1"/>
          <p:nvPr/>
        </p:nvSpPr>
        <p:spPr>
          <a:xfrm>
            <a:off x="88490" y="2772696"/>
            <a:ext cx="188193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name = "Neha"</a:t>
            </a:r>
          </a:p>
          <a:p>
            <a:r>
              <a:rPr lang="en-US"/>
              <a:t>age = 22</a:t>
            </a:r>
          </a:p>
          <a:p>
            <a:r>
              <a:rPr lang="en-US"/>
              <a:t>marks = 85.5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09C13E-AF0E-B38A-F4C7-CECE1E488851}"/>
              </a:ext>
            </a:extLst>
          </p:cNvPr>
          <p:cNvSpPr txBox="1"/>
          <p:nvPr/>
        </p:nvSpPr>
        <p:spPr>
          <a:xfrm>
            <a:off x="88491" y="2418735"/>
            <a:ext cx="1745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EXAMPLE 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A201137-654D-5592-7C0E-4C8A9EF63AA0}"/>
              </a:ext>
            </a:extLst>
          </p:cNvPr>
          <p:cNvSpPr txBox="1"/>
          <p:nvPr/>
        </p:nvSpPr>
        <p:spPr>
          <a:xfrm>
            <a:off x="88490" y="4049986"/>
            <a:ext cx="397223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dirty="0"/>
              <a:t>Here: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name</a:t>
            </a:r>
            <a:r>
              <a:rPr lang="en-IN" dirty="0"/>
              <a:t> stores text.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age</a:t>
            </a:r>
            <a:r>
              <a:rPr lang="en-IN" dirty="0"/>
              <a:t> stores an integer.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>
                <a:latin typeface="+mn-lt"/>
              </a:rPr>
              <a:t>marks</a:t>
            </a:r>
            <a:r>
              <a:rPr lang="en-IN" dirty="0"/>
              <a:t> stores a decimal number.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28F832-EF5F-960F-8CDC-5F6FEB8AE411}"/>
              </a:ext>
            </a:extLst>
          </p:cNvPr>
          <p:cNvSpPr txBox="1"/>
          <p:nvPr/>
        </p:nvSpPr>
        <p:spPr>
          <a:xfrm>
            <a:off x="5139810" y="2788066"/>
            <a:ext cx="524305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Rules for naming variables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 variable name can contain letters, numbers, and underscores (</a:t>
            </a:r>
            <a:r>
              <a:rPr lang="en-IN" dirty="0">
                <a:latin typeface="+mn-lt"/>
              </a:rPr>
              <a:t>_</a:t>
            </a:r>
            <a:r>
              <a:rPr lang="en-IN" dirty="0"/>
              <a:t>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It cannot start with a number.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Variable names are case-sensitive (</a:t>
            </a:r>
            <a:r>
              <a:rPr lang="en-IN" dirty="0">
                <a:latin typeface="+mn-lt"/>
              </a:rPr>
              <a:t>age</a:t>
            </a:r>
            <a:r>
              <a:rPr lang="en-IN" dirty="0"/>
              <a:t> and </a:t>
            </a:r>
            <a:r>
              <a:rPr lang="en-IN" dirty="0">
                <a:latin typeface="+mn-lt"/>
              </a:rPr>
              <a:t>Age</a:t>
            </a:r>
            <a:r>
              <a:rPr lang="en-IN" dirty="0"/>
              <a:t> are different).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Python keywords cannot be used as variable names.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Spaces are not allowed in variable names.</a:t>
            </a:r>
          </a:p>
        </p:txBody>
      </p:sp>
    </p:spTree>
    <p:extLst>
      <p:ext uri="{BB962C8B-B14F-4D97-AF65-F5344CB8AC3E}">
        <p14:creationId xmlns:p14="http://schemas.microsoft.com/office/powerpoint/2010/main" val="1991477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C0E496-1CFF-44FB-D966-2ECFDC050A2E}"/>
              </a:ext>
            </a:extLst>
          </p:cNvPr>
          <p:cNvSpPr txBox="1"/>
          <p:nvPr/>
        </p:nvSpPr>
        <p:spPr>
          <a:xfrm>
            <a:off x="108156" y="98324"/>
            <a:ext cx="7934632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u="sng" dirty="0"/>
              <a:t>Data Types in Python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2000" b="1" dirty="0"/>
              <a:t>Definition: A data type specifies the kind of value a variable holds.</a:t>
            </a:r>
          </a:p>
          <a:p>
            <a:pPr>
              <a:buNone/>
            </a:pPr>
            <a:endParaRPr lang="en-IN" dirty="0"/>
          </a:p>
          <a:p>
            <a:endParaRPr lang="en-IN" b="1" dirty="0"/>
          </a:p>
          <a:p>
            <a:r>
              <a:rPr lang="en-IN" b="1" dirty="0"/>
              <a:t>1. Integer (int)</a:t>
            </a:r>
          </a:p>
          <a:p>
            <a:r>
              <a:rPr lang="en-IN" dirty="0"/>
              <a:t>Whole numbers without decimal points.</a:t>
            </a:r>
          </a:p>
          <a:p>
            <a:r>
              <a:rPr lang="en-IN" dirty="0"/>
              <a:t>age = 22</a:t>
            </a:r>
          </a:p>
          <a:p>
            <a:endParaRPr lang="en-IN" dirty="0"/>
          </a:p>
          <a:p>
            <a:r>
              <a:rPr lang="en-IN" b="1" dirty="0"/>
              <a:t>2. Float (float)</a:t>
            </a:r>
          </a:p>
          <a:p>
            <a:r>
              <a:rPr lang="en-IN" dirty="0"/>
              <a:t>Numbers containing decimal points.</a:t>
            </a:r>
          </a:p>
          <a:p>
            <a:r>
              <a:rPr lang="en-IN" dirty="0"/>
              <a:t>price = 99.5</a:t>
            </a:r>
          </a:p>
          <a:p>
            <a:endParaRPr lang="en-IN" dirty="0"/>
          </a:p>
          <a:p>
            <a:r>
              <a:rPr lang="en-IN" b="1" dirty="0"/>
              <a:t>3. String (str)</a:t>
            </a:r>
          </a:p>
          <a:p>
            <a:r>
              <a:rPr lang="en-IN" dirty="0"/>
              <a:t>A sequence of characters enclosed in quotes.</a:t>
            </a:r>
          </a:p>
          <a:p>
            <a:r>
              <a:rPr lang="en-IN" dirty="0"/>
              <a:t>name = "Neha“</a:t>
            </a:r>
          </a:p>
          <a:p>
            <a:endParaRPr lang="en-IN" dirty="0"/>
          </a:p>
          <a:p>
            <a:r>
              <a:rPr lang="en-IN" b="1" dirty="0"/>
              <a:t>4. Boolean (bool</a:t>
            </a:r>
            <a:r>
              <a:rPr lang="en-IN" dirty="0"/>
              <a:t>)</a:t>
            </a:r>
          </a:p>
          <a:p>
            <a:r>
              <a:rPr lang="en-IN" dirty="0"/>
              <a:t>Represents either True or False.</a:t>
            </a:r>
          </a:p>
          <a:p>
            <a:r>
              <a:rPr lang="en-IN" dirty="0"/>
              <a:t>Is student = True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EFC614-E05D-D8D3-2F06-48F09CEED4E7}"/>
              </a:ext>
            </a:extLst>
          </p:cNvPr>
          <p:cNvSpPr txBox="1"/>
          <p:nvPr/>
        </p:nvSpPr>
        <p:spPr>
          <a:xfrm>
            <a:off x="6095999" y="1740310"/>
            <a:ext cx="6351639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5. List (</a:t>
            </a:r>
            <a:r>
              <a:rPr lang="en-IN" b="1" dirty="0">
                <a:latin typeface="+mn-lt"/>
              </a:rPr>
              <a:t>list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An ordered, changeable collection of items.</a:t>
            </a:r>
          </a:p>
          <a:p>
            <a:pPr>
              <a:buNone/>
            </a:pPr>
            <a:r>
              <a:rPr lang="en-IN" dirty="0">
                <a:latin typeface="+mn-lt"/>
              </a:rPr>
              <a:t>fruits = ["Apple", "Mango"]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6. Tuple (</a:t>
            </a:r>
            <a:r>
              <a:rPr lang="en-IN" b="1" dirty="0">
                <a:latin typeface="+mn-lt"/>
              </a:rPr>
              <a:t>tuple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An ordered, unchangeable collection.</a:t>
            </a:r>
          </a:p>
          <a:p>
            <a:pPr>
              <a:buNone/>
            </a:pPr>
            <a:r>
              <a:rPr lang="en-IN" dirty="0" err="1">
                <a:latin typeface="+mn-lt"/>
              </a:rPr>
              <a:t>colors</a:t>
            </a:r>
            <a:r>
              <a:rPr lang="en-IN" dirty="0">
                <a:latin typeface="+mn-lt"/>
              </a:rPr>
              <a:t> = ("Red", "Blue")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7. Dictionary (</a:t>
            </a:r>
            <a:r>
              <a:rPr lang="en-IN" b="1" dirty="0" err="1">
                <a:latin typeface="+mn-lt"/>
              </a:rPr>
              <a:t>dict</a:t>
            </a:r>
            <a:r>
              <a:rPr lang="en-IN" dirty="0"/>
              <a:t>)</a:t>
            </a:r>
          </a:p>
          <a:p>
            <a:pPr>
              <a:buNone/>
            </a:pPr>
            <a:r>
              <a:rPr lang="en-IN" dirty="0"/>
              <a:t>Stores data as key-value pairs.</a:t>
            </a:r>
          </a:p>
          <a:p>
            <a:pPr>
              <a:buNone/>
            </a:pPr>
            <a:r>
              <a:rPr lang="en-IN" dirty="0">
                <a:latin typeface="+mn-lt"/>
              </a:rPr>
              <a:t>student = {"name": "Neha", "age": 22}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8. Set (</a:t>
            </a:r>
            <a:r>
              <a:rPr lang="en-IN" b="1" dirty="0">
                <a:latin typeface="+mn-lt"/>
              </a:rPr>
              <a:t>set</a:t>
            </a:r>
            <a:r>
              <a:rPr lang="en-IN" b="1" dirty="0"/>
              <a:t>)</a:t>
            </a:r>
          </a:p>
          <a:p>
            <a:pPr>
              <a:buNone/>
            </a:pPr>
            <a:r>
              <a:rPr lang="en-IN" dirty="0"/>
              <a:t>An unordered collection of unique elements.</a:t>
            </a:r>
          </a:p>
          <a:p>
            <a:pPr>
              <a:buNone/>
            </a:pPr>
            <a:r>
              <a:rPr lang="en-IN" dirty="0">
                <a:latin typeface="+mn-lt"/>
              </a:rPr>
              <a:t>numbers = {1, 2, 3}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3040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346CA74-8105-96BA-99D2-58B979CC277E}"/>
              </a:ext>
            </a:extLst>
          </p:cNvPr>
          <p:cNvSpPr txBox="1"/>
          <p:nvPr/>
        </p:nvSpPr>
        <p:spPr>
          <a:xfrm>
            <a:off x="98326" y="353961"/>
            <a:ext cx="8917858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u="sng" dirty="0"/>
              <a:t>Importance in AI/ML</a:t>
            </a:r>
          </a:p>
          <a:p>
            <a:pPr lvl="0"/>
            <a:r>
              <a:rPr lang="en-IN" sz="2000" dirty="0"/>
              <a:t>Variables store data such as names, scores, predictions, and model parameters.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Integers and floats represent numerical data used in calculations.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Strings store text for natural language processing (NLP).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Lists and dictionaries help organize datasets and structured information.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/>
              <a:t>Booleans represent conditions, such as whether a prediction meets a particular requirement.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653BA4-F92D-7CE1-BCB7-6F59070449B9}"/>
              </a:ext>
            </a:extLst>
          </p:cNvPr>
          <p:cNvSpPr txBox="1"/>
          <p:nvPr/>
        </p:nvSpPr>
        <p:spPr>
          <a:xfrm>
            <a:off x="98327" y="4188542"/>
            <a:ext cx="9040756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name = "Neha"</a:t>
            </a:r>
          </a:p>
          <a:p>
            <a:r>
              <a:rPr lang="en-US" dirty="0"/>
              <a:t>age = 22</a:t>
            </a:r>
          </a:p>
          <a:p>
            <a:r>
              <a:rPr lang="en-US" dirty="0"/>
              <a:t>height = 5.4</a:t>
            </a:r>
          </a:p>
          <a:p>
            <a:r>
              <a:rPr lang="en-US" dirty="0"/>
              <a:t>Is student = True</a:t>
            </a:r>
          </a:p>
          <a:p>
            <a:endParaRPr lang="en-US" dirty="0"/>
          </a:p>
          <a:p>
            <a:r>
              <a:rPr lang="en-US" dirty="0"/>
              <a:t>print(name, type(name))</a:t>
            </a:r>
          </a:p>
          <a:p>
            <a:r>
              <a:rPr lang="en-US" dirty="0"/>
              <a:t>print(age, type(age))</a:t>
            </a:r>
          </a:p>
          <a:p>
            <a:r>
              <a:rPr lang="en-US" dirty="0"/>
              <a:t>print(height, type(height))</a:t>
            </a:r>
          </a:p>
          <a:p>
            <a:r>
              <a:rPr lang="en-US" dirty="0"/>
              <a:t>print(is student, type(is student))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F2C382-3A7A-5E64-4379-60A6433F6C96}"/>
              </a:ext>
            </a:extLst>
          </p:cNvPr>
          <p:cNvSpPr txBox="1"/>
          <p:nvPr/>
        </p:nvSpPr>
        <p:spPr>
          <a:xfrm>
            <a:off x="157316" y="3824748"/>
            <a:ext cx="118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EXAMPLE</a:t>
            </a:r>
            <a:endParaRPr lang="en-IN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680E7C-EC1F-7A60-F292-FA966ACBCE6B}"/>
              </a:ext>
            </a:extLst>
          </p:cNvPr>
          <p:cNvSpPr txBox="1"/>
          <p:nvPr/>
        </p:nvSpPr>
        <p:spPr>
          <a:xfrm>
            <a:off x="4591665" y="4306530"/>
            <a:ext cx="45154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Neha &lt;class 'str'&gt;</a:t>
            </a:r>
          </a:p>
          <a:p>
            <a:r>
              <a:rPr lang="en-US" dirty="0"/>
              <a:t>22 &lt;class 'int'&gt;</a:t>
            </a:r>
          </a:p>
          <a:p>
            <a:r>
              <a:rPr lang="en-US" dirty="0"/>
              <a:t>5.4 &lt;class 'float'&gt;</a:t>
            </a:r>
          </a:p>
          <a:p>
            <a:r>
              <a:rPr lang="en-US" dirty="0"/>
              <a:t>True &lt;class 'bool'&gt;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299DD37-916F-59F9-B62E-6975EA193794}"/>
              </a:ext>
            </a:extLst>
          </p:cNvPr>
          <p:cNvSpPr txBox="1"/>
          <p:nvPr/>
        </p:nvSpPr>
        <p:spPr>
          <a:xfrm>
            <a:off x="4896465" y="3834581"/>
            <a:ext cx="12170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Output</a:t>
            </a:r>
            <a:r>
              <a:rPr lang="en-US" b="1" dirty="0"/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32949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527B32F-07F3-4C94-B09B-8C8F310F0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"/>
            <a:ext cx="768096" cy="6089895"/>
          </a:xfrm>
          <a:prstGeom prst="rect">
            <a:avLst/>
          </a:prstGeom>
          <a:solidFill>
            <a:srgbClr val="1A667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Variable Types">
            <a:extLst>
              <a:ext uri="{FF2B5EF4-FFF2-40B4-BE49-F238E27FC236}">
                <a16:creationId xmlns:a16="http://schemas.microsoft.com/office/drawing/2014/main" id="{F31E79BD-9D50-AE08-0A3C-0B231AA3DC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6" r="8944" b="2"/>
          <a:stretch>
            <a:fillRect/>
          </a:stretch>
        </p:blipFill>
        <p:spPr>
          <a:xfrm>
            <a:off x="5838243" y="3116983"/>
            <a:ext cx="6481753" cy="381637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4D94C9-25B3-F28D-2A37-3FC52387AB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021" r="1" b="1"/>
          <a:stretch>
            <a:fillRect/>
          </a:stretch>
        </p:blipFill>
        <p:spPr>
          <a:xfrm>
            <a:off x="768096" y="-84501"/>
            <a:ext cx="7437853" cy="3979846"/>
          </a:xfrm>
          <a:custGeom>
            <a:avLst/>
            <a:gdLst/>
            <a:ahLst/>
            <a:cxnLst/>
            <a:rect l="l" t="t" r="r" b="b"/>
            <a:pathLst>
              <a:path w="7279913" h="3895335">
                <a:moveTo>
                  <a:pt x="0" y="0"/>
                </a:moveTo>
                <a:lnTo>
                  <a:pt x="7279913" y="0"/>
                </a:lnTo>
                <a:lnTo>
                  <a:pt x="7279913" y="3116976"/>
                </a:lnTo>
                <a:lnTo>
                  <a:pt x="5011287" y="3116976"/>
                </a:lnTo>
                <a:lnTo>
                  <a:pt x="5011287" y="3895335"/>
                </a:lnTo>
                <a:lnTo>
                  <a:pt x="0" y="3895335"/>
                </a:lnTo>
                <a:close/>
              </a:path>
            </a:pathLst>
          </a:cu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7F41D4CC-403D-465E-9223-3277868A5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41417" y="643467"/>
            <a:ext cx="3850583" cy="247351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DC4C688-715E-4A31-AB90-6A575288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6036" y="4069422"/>
            <a:ext cx="5001186" cy="2020482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537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B527B32F-07F3-4C94-B09B-8C8F310F0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"/>
            <a:ext cx="768096" cy="6089895"/>
          </a:xfrm>
          <a:prstGeom prst="rect">
            <a:avLst/>
          </a:prstGeom>
          <a:solidFill>
            <a:srgbClr val="4F6B8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Image result for AI/ML image">
            <a:extLst>
              <a:ext uri="{FF2B5EF4-FFF2-40B4-BE49-F238E27FC236}">
                <a16:creationId xmlns:a16="http://schemas.microsoft.com/office/drawing/2014/main" id="{212CA339-6E8B-BAF4-C131-944C1FA3615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2374"/>
          <a:stretch>
            <a:fillRect/>
          </a:stretch>
        </p:blipFill>
        <p:spPr>
          <a:xfrm>
            <a:off x="6088088" y="3264090"/>
            <a:ext cx="6103911" cy="3593910"/>
          </a:xfrm>
          <a:prstGeom prst="rect">
            <a:avLst/>
          </a:prstGeom>
        </p:spPr>
      </p:pic>
      <p:pic>
        <p:nvPicPr>
          <p:cNvPr id="5" name="Picture 4" descr="AI, ML, and DL: Finally Understanding What They Actually Mean | by ...">
            <a:extLst>
              <a:ext uri="{FF2B5EF4-FFF2-40B4-BE49-F238E27FC236}">
                <a16:creationId xmlns:a16="http://schemas.microsoft.com/office/drawing/2014/main" id="{2B285175-7F14-9ADE-CED2-33E0E1D703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20" r="1" b="1"/>
          <a:stretch>
            <a:fillRect/>
          </a:stretch>
        </p:blipFill>
        <p:spPr>
          <a:xfrm>
            <a:off x="926036" y="9"/>
            <a:ext cx="7279913" cy="3895335"/>
          </a:xfrm>
          <a:custGeom>
            <a:avLst/>
            <a:gdLst/>
            <a:ahLst/>
            <a:cxnLst/>
            <a:rect l="l" t="t" r="r" b="b"/>
            <a:pathLst>
              <a:path w="7279913" h="3895335">
                <a:moveTo>
                  <a:pt x="0" y="0"/>
                </a:moveTo>
                <a:lnTo>
                  <a:pt x="7279913" y="0"/>
                </a:lnTo>
                <a:lnTo>
                  <a:pt x="7279913" y="3116976"/>
                </a:lnTo>
                <a:lnTo>
                  <a:pt x="5011287" y="3116976"/>
                </a:lnTo>
                <a:lnTo>
                  <a:pt x="5011287" y="3895335"/>
                </a:lnTo>
                <a:lnTo>
                  <a:pt x="0" y="3895335"/>
                </a:lnTo>
                <a:close/>
              </a:path>
            </a:pathLst>
          </a:cu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F41D4CC-403D-465E-9223-3277868A5D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41417" y="643467"/>
            <a:ext cx="3850583" cy="2473517"/>
          </a:xfrm>
          <a:prstGeom prst="rect">
            <a:avLst/>
          </a:prstGeom>
          <a:solidFill>
            <a:schemeClr val="tx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C4C688-715E-4A31-AB90-6A5752887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6036" y="4069422"/>
            <a:ext cx="5001186" cy="2020482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37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E40DD-F137-3CF3-D783-F56046BA6DA2}"/>
              </a:ext>
            </a:extLst>
          </p:cNvPr>
          <p:cNvSpPr txBox="1"/>
          <p:nvPr/>
        </p:nvSpPr>
        <p:spPr>
          <a:xfrm>
            <a:off x="167148" y="157316"/>
            <a:ext cx="8974339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dirty="0"/>
              <a:t>AI/ML vs Future AI Agents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956BCD-9BBB-765D-4B78-989B91771F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55" y="1191974"/>
            <a:ext cx="9821657" cy="5149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9922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538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C57D546-D429-AD02-5A87-6EC71D0FF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043516"/>
            <a:ext cx="10905066" cy="4770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848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7230BB-66BF-9637-846A-017A7286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96390"/>
            <a:ext cx="11277600" cy="3665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5512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1385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Future of AI: Machine Learning vs Deep Learning Explained">
            <a:extLst>
              <a:ext uri="{FF2B5EF4-FFF2-40B4-BE49-F238E27FC236}">
                <a16:creationId xmlns:a16="http://schemas.microsoft.com/office/drawing/2014/main" id="{CDE833C0-B31F-8CBB-FFFD-0F440E720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36" y="643467"/>
            <a:ext cx="10662327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2859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DB538A-72CF-B7DF-0B88-CD2DB814169D}"/>
              </a:ext>
            </a:extLst>
          </p:cNvPr>
          <p:cNvSpPr txBox="1"/>
          <p:nvPr/>
        </p:nvSpPr>
        <p:spPr>
          <a:xfrm>
            <a:off x="196645" y="206477"/>
            <a:ext cx="8944842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4400" b="1" u="sng" dirty="0"/>
              <a:t>Linux Server Deployment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dirty="0"/>
              <a:t> Linux Server Deployment is the process of installing, configuring, and running an application on a server that uses a Linux operating system so that users can access it over a network or the internet.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9891CDA-7487-C47B-1544-C556F3AE3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33" y="2228850"/>
            <a:ext cx="6462767" cy="4422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0264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0EAE62-C68C-CC5D-3CAC-4181F26B5359}"/>
              </a:ext>
            </a:extLst>
          </p:cNvPr>
          <p:cNvSpPr txBox="1"/>
          <p:nvPr/>
        </p:nvSpPr>
        <p:spPr>
          <a:xfrm>
            <a:off x="342900" y="297180"/>
            <a:ext cx="11567160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5400" b="1" u="sng" dirty="0"/>
              <a:t>Linux Server Deployment Workflow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1. Develop the Application</a:t>
            </a:r>
          </a:p>
          <a:p>
            <a:pPr>
              <a:buNone/>
            </a:pPr>
            <a:r>
              <a:rPr lang="en-IN" dirty="0"/>
              <a:t>Python, AI/ML model, or AI Agent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2. Prepare the Linux Server</a:t>
            </a:r>
          </a:p>
          <a:p>
            <a:pPr>
              <a:buNone/>
            </a:pPr>
            <a:r>
              <a:rPr lang="en-IN" dirty="0"/>
              <a:t>Ubuntu / Linux, packages, dependencies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3. Configure and Deploy</a:t>
            </a:r>
          </a:p>
          <a:p>
            <a:pPr>
              <a:buNone/>
            </a:pPr>
            <a:r>
              <a:rPr lang="en-IN" dirty="0"/>
              <a:t>Git, Python environment, application server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4. Test and Secure</a:t>
            </a:r>
          </a:p>
          <a:p>
            <a:pPr>
              <a:buNone/>
            </a:pPr>
            <a:r>
              <a:rPr lang="en-IN" dirty="0"/>
              <a:t>Firewall, access permissions, application testing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5. Make the Application Available</a:t>
            </a:r>
          </a:p>
          <a:p>
            <a:pPr>
              <a:buNone/>
            </a:pPr>
            <a:r>
              <a:rPr lang="en-IN" dirty="0"/>
              <a:t>Access through a website URL or API endpoint</a:t>
            </a:r>
          </a:p>
        </p:txBody>
      </p:sp>
    </p:spTree>
    <p:extLst>
      <p:ext uri="{BB962C8B-B14F-4D97-AF65-F5344CB8AC3E}">
        <p14:creationId xmlns:p14="http://schemas.microsoft.com/office/powerpoint/2010/main" val="38257814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DDD1A5-A2C1-8154-9CFD-F56799CDA5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4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5199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1B377BA-74EA-1A14-9EA8-DB0BF604FAAE}"/>
              </a:ext>
            </a:extLst>
          </p:cNvPr>
          <p:cNvSpPr txBox="1"/>
          <p:nvPr/>
        </p:nvSpPr>
        <p:spPr>
          <a:xfrm>
            <a:off x="0" y="0"/>
            <a:ext cx="109816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u="sng" dirty="0">
                <a:solidFill>
                  <a:srgbClr val="0070C0"/>
                </a:solidFill>
              </a:rPr>
              <a:t>Interview And Practical Questions </a:t>
            </a:r>
            <a:endParaRPr lang="en-IN" sz="4000" b="1" u="sng" dirty="0">
              <a:solidFill>
                <a:srgbClr val="0070C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B29C87-9AF0-AF9D-DB6E-8B9FF7CBD035}"/>
              </a:ext>
            </a:extLst>
          </p:cNvPr>
          <p:cNvSpPr txBox="1"/>
          <p:nvPr/>
        </p:nvSpPr>
        <p:spPr>
          <a:xfrm>
            <a:off x="171450" y="707886"/>
            <a:ext cx="8921115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Q1. What is Artificial Intelligence (AI)?</a:t>
            </a:r>
          </a:p>
          <a:p>
            <a:pPr>
              <a:buNone/>
            </a:pPr>
            <a:r>
              <a:rPr lang="en-IN" dirty="0"/>
              <a:t>Answer: Artificial Intelligence is a technology that enables machines to perform tasks that normally require human intelligence, such as reasoning, learning, and decision-making.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Q2. What is Machine Learning (ML)?</a:t>
            </a:r>
          </a:p>
          <a:p>
            <a:pPr>
              <a:buNone/>
            </a:pPr>
            <a:r>
              <a:rPr lang="en-IN" dirty="0"/>
              <a:t>Answer: Machine Learning is a branch of AI that enables computers to learn patterns from data and make predictions without being explicitly programmed for every situation.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Q3. What is the difference between AI and ML?</a:t>
            </a:r>
          </a:p>
          <a:p>
            <a:pPr>
              <a:buNone/>
            </a:pPr>
            <a:r>
              <a:rPr lang="en-IN" dirty="0"/>
              <a:t>Answer: AI is the broader field of creating intelligent systems, while ML is a subset of AI that learns patterns from data.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Q4. What are the types of Machine Learning?</a:t>
            </a:r>
          </a:p>
          <a:p>
            <a:pPr>
              <a:buNone/>
            </a:pPr>
            <a:r>
              <a:rPr lang="en-IN" dirty="0"/>
              <a:t>Answer: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Supervised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Unsupervised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Reinforcement Learning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pPr>
              <a:buNone/>
            </a:pPr>
            <a:r>
              <a:rPr lang="en-IN" b="1" dirty="0"/>
              <a:t>Q5. What is Generative AI?</a:t>
            </a:r>
          </a:p>
          <a:p>
            <a:pPr>
              <a:buNone/>
            </a:pPr>
            <a:r>
              <a:rPr lang="en-IN" dirty="0"/>
              <a:t>Answer: Generative AI creates new content, such as text, images, audio, and code, based on learned patterns</a:t>
            </a:r>
          </a:p>
        </p:txBody>
      </p:sp>
    </p:spTree>
    <p:extLst>
      <p:ext uri="{BB962C8B-B14F-4D97-AF65-F5344CB8AC3E}">
        <p14:creationId xmlns:p14="http://schemas.microsoft.com/office/powerpoint/2010/main" val="28051232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83F53C-2AF8-FD8B-45EE-2FE8529D6642}"/>
              </a:ext>
            </a:extLst>
          </p:cNvPr>
          <p:cNvSpPr txBox="1"/>
          <p:nvPr/>
        </p:nvSpPr>
        <p:spPr>
          <a:xfrm>
            <a:off x="127819" y="147484"/>
            <a:ext cx="12064181" cy="70173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Q6. What is a dataset?</a:t>
            </a:r>
          </a:p>
          <a:p>
            <a:r>
              <a:rPr lang="en-IN" dirty="0"/>
              <a:t>Answer: A dataset is a collection of related data used to train, validate, or test a machine-learning model.</a:t>
            </a:r>
          </a:p>
          <a:p>
            <a:endParaRPr lang="en-IN" dirty="0"/>
          </a:p>
          <a:p>
            <a:r>
              <a:rPr lang="en-IN" b="1" dirty="0"/>
              <a:t>Q7. What is model training?</a:t>
            </a:r>
          </a:p>
          <a:p>
            <a:r>
              <a:rPr lang="en-IN" dirty="0"/>
              <a:t>Answer: Model training is the process in which a machine-learning algorithm learns patterns from data.</a:t>
            </a:r>
          </a:p>
          <a:p>
            <a:endParaRPr lang="en-IN" dirty="0"/>
          </a:p>
          <a:p>
            <a:r>
              <a:rPr lang="en-IN" b="1" dirty="0"/>
              <a:t>Q8. What is Prompt Engineering?</a:t>
            </a:r>
          </a:p>
          <a:p>
            <a:r>
              <a:rPr lang="en-IN" dirty="0"/>
              <a:t>Answer: Prompt engineering is the process of designing clear and effective instructions to obtain useful responses from an AI model.</a:t>
            </a:r>
          </a:p>
          <a:p>
            <a:endParaRPr lang="en-IN" dirty="0"/>
          </a:p>
          <a:p>
            <a:r>
              <a:rPr lang="en-IN" b="1" dirty="0"/>
              <a:t>Q9. What is an AI Agent?</a:t>
            </a:r>
          </a:p>
          <a:p>
            <a:r>
              <a:rPr lang="en-IN" dirty="0"/>
              <a:t>Answer: An AI agent is a system that observes information, works toward a goal, and may use tools or take actions to complete tasks.</a:t>
            </a:r>
          </a:p>
          <a:p>
            <a:endParaRPr lang="en-IN" dirty="0"/>
          </a:p>
          <a:p>
            <a:r>
              <a:rPr lang="en-IN" b="1" dirty="0"/>
              <a:t>Q10. What is the difference between an AI chatbot and an AI agent?</a:t>
            </a:r>
          </a:p>
          <a:p>
            <a:r>
              <a:rPr lang="en-IN" dirty="0"/>
              <a:t>Answer: A chatbot primarily responds to user messages, whereas an AI agent can also plan tasks, use tools, and perform actions when appropriately configured.</a:t>
            </a:r>
          </a:p>
          <a:p>
            <a:endParaRPr lang="en-IN" dirty="0"/>
          </a:p>
          <a:p>
            <a:r>
              <a:rPr lang="en-IN" b="1" dirty="0"/>
              <a:t>Q11. What are the main components of an AI Agent?</a:t>
            </a:r>
          </a:p>
          <a:p>
            <a:pPr lvl="0"/>
            <a:r>
              <a:rPr lang="en-IN" dirty="0"/>
              <a:t>AI model or reasoning engine</a:t>
            </a:r>
          </a:p>
          <a:p>
            <a:pPr lvl="0"/>
            <a:r>
              <a:rPr lang="en-IN" dirty="0"/>
              <a:t>Instructions and goals</a:t>
            </a:r>
          </a:p>
          <a:p>
            <a:pPr lvl="0"/>
            <a:r>
              <a:rPr lang="en-IN" dirty="0"/>
              <a:t>Tools and APIs</a:t>
            </a:r>
          </a:p>
          <a:p>
            <a:pPr lvl="0"/>
            <a:r>
              <a:rPr lang="en-IN" dirty="0"/>
              <a:t>Memory or context, when needed</a:t>
            </a:r>
          </a:p>
          <a:p>
            <a:pPr lvl="0"/>
            <a:r>
              <a:rPr lang="en-IN" dirty="0"/>
              <a:t>Planning and action execution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9679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388241-AC97-DE08-5E08-566E7A1AFDF3}"/>
              </a:ext>
            </a:extLst>
          </p:cNvPr>
          <p:cNvSpPr txBox="1"/>
          <p:nvPr/>
        </p:nvSpPr>
        <p:spPr>
          <a:xfrm>
            <a:off x="125730" y="0"/>
            <a:ext cx="120662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Q12. What is an API?</a:t>
            </a:r>
          </a:p>
          <a:p>
            <a:pPr>
              <a:buNone/>
            </a:pPr>
            <a:r>
              <a:rPr lang="en-IN" dirty="0"/>
              <a:t>Answer: An API (Application Programming Interface) allows different software applications to communicate and exchange data.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Q13. What is an autonomous AI agent?</a:t>
            </a:r>
          </a:p>
          <a:p>
            <a:pPr>
              <a:buNone/>
            </a:pPr>
            <a:r>
              <a:rPr lang="en-IN" dirty="0"/>
              <a:t>Answer: An autonomous AI agent can perform multiple steps toward a goal with limited human intervention, within its configured permissions and boundaries.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b="1" dirty="0"/>
              <a:t>Q14. What is tool calling in AI Agents?</a:t>
            </a:r>
          </a:p>
          <a:p>
            <a:pPr>
              <a:buNone/>
            </a:pPr>
            <a:r>
              <a:rPr lang="en-IN" dirty="0"/>
              <a:t>Answer: Tool calling allows an AI agent to use external functions or services, such as searching the web, retrieving information, or accessing an API.</a:t>
            </a:r>
          </a:p>
          <a:p>
            <a:pPr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7D11B3-23A6-29AC-D4CB-DA6200250DCD}"/>
              </a:ext>
            </a:extLst>
          </p:cNvPr>
          <p:cNvSpPr txBox="1"/>
          <p:nvPr/>
        </p:nvSpPr>
        <p:spPr>
          <a:xfrm>
            <a:off x="205740" y="3108960"/>
            <a:ext cx="1160145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Q15.  What is Linux?</a:t>
            </a:r>
          </a:p>
          <a:p>
            <a:pPr>
              <a:buNone/>
            </a:pPr>
            <a:r>
              <a:rPr lang="en-IN" dirty="0"/>
              <a:t>Answer: Linux is an open-source operating system widely used in servers, cloud computing, development, and AI applications.</a:t>
            </a:r>
          </a:p>
          <a:p>
            <a:pPr>
              <a:buNone/>
            </a:pPr>
            <a:r>
              <a:rPr lang="en-IN" b="1" dirty="0"/>
              <a:t>Q16. What is Linux Server Deployment?</a:t>
            </a:r>
          </a:p>
          <a:p>
            <a:pPr>
              <a:buNone/>
            </a:pPr>
            <a:r>
              <a:rPr lang="en-IN" dirty="0"/>
              <a:t>Answer: It is the process of configuring a Linux server, installing an application and its dependencies, and making the application available to users.</a:t>
            </a:r>
          </a:p>
          <a:p>
            <a:pPr>
              <a:buNone/>
            </a:pPr>
            <a:r>
              <a:rPr lang="en-IN" b="1" dirty="0"/>
              <a:t>Q18. What is the difference between </a:t>
            </a:r>
            <a:r>
              <a:rPr lang="en-IN" b="1" dirty="0">
                <a:latin typeface="+mn-lt"/>
              </a:rPr>
              <a:t>ls</a:t>
            </a:r>
            <a:r>
              <a:rPr lang="en-IN" b="1" dirty="0"/>
              <a:t> and </a:t>
            </a:r>
            <a:r>
              <a:rPr lang="en-IN" b="1" dirty="0">
                <a:latin typeface="+mn-lt"/>
              </a:rPr>
              <a:t>cd</a:t>
            </a:r>
            <a:r>
              <a:rPr lang="en-IN" b="1" dirty="0"/>
              <a:t>?</a:t>
            </a:r>
          </a:p>
          <a:p>
            <a:pPr>
              <a:buNone/>
            </a:pPr>
            <a:r>
              <a:rPr lang="en-IN" dirty="0"/>
              <a:t>Answer: </a:t>
            </a:r>
            <a:r>
              <a:rPr lang="en-IN" dirty="0">
                <a:latin typeface="+mn-lt"/>
              </a:rPr>
              <a:t>ls</a:t>
            </a:r>
            <a:r>
              <a:rPr lang="en-IN" dirty="0"/>
              <a:t> lists files and folders, while </a:t>
            </a:r>
            <a:r>
              <a:rPr lang="en-IN" dirty="0">
                <a:latin typeface="+mn-lt"/>
              </a:rPr>
              <a:t>cd</a:t>
            </a:r>
            <a:r>
              <a:rPr lang="en-IN" dirty="0"/>
              <a:t> changes the current directory.</a:t>
            </a:r>
          </a:p>
          <a:p>
            <a:pPr>
              <a:buNone/>
            </a:pPr>
            <a:r>
              <a:rPr lang="en-IN" dirty="0"/>
              <a:t>Answer: Git is a version control system used to track code changes and collaborate on software projects.</a:t>
            </a:r>
          </a:p>
          <a:p>
            <a:pPr>
              <a:buNone/>
            </a:pPr>
            <a:r>
              <a:rPr lang="en-IN" b="1" dirty="0"/>
              <a:t>Q19. What is a virtual environment in Python?</a:t>
            </a:r>
          </a:p>
          <a:p>
            <a:pPr>
              <a:buNone/>
            </a:pPr>
            <a:r>
              <a:rPr lang="en-IN" dirty="0"/>
              <a:t>Answer: A virtual environment isolates a project's Python packages from other projects and the system-wide Python environment.</a:t>
            </a:r>
          </a:p>
        </p:txBody>
      </p:sp>
    </p:spTree>
    <p:extLst>
      <p:ext uri="{BB962C8B-B14F-4D97-AF65-F5344CB8AC3E}">
        <p14:creationId xmlns:p14="http://schemas.microsoft.com/office/powerpoint/2010/main" val="31097989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380C54-DC87-F1E9-7FCD-0AE8F253B1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581025"/>
            <a:ext cx="8343900" cy="5695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171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1404</Words>
  <Application>Microsoft Office PowerPoint</Application>
  <PresentationFormat>Widescreen</PresentationFormat>
  <Paragraphs>184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 AI/ML &amp; Future AI Agent                 Internship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sh</dc:creator>
  <cp:lastModifiedBy>rahul sh</cp:lastModifiedBy>
  <cp:revision>1</cp:revision>
  <dcterms:created xsi:type="dcterms:W3CDTF">2026-10-13T05:50:32Z</dcterms:created>
  <dcterms:modified xsi:type="dcterms:W3CDTF">2026-10-13T09:04:12Z</dcterms:modified>
</cp:coreProperties>
</file>